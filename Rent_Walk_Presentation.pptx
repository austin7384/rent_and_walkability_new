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y="5143500" cx="9144000"/>
  <p:notesSz cx="6858000" cy="9144000"/>
  <p:embeddedFontLst>
    <p:embeddedFont>
      <p:font typeface="Average"/>
      <p:regular r:id="rId25"/>
    </p:embeddedFont>
    <p:embeddedFont>
      <p:font typeface="Oswald"/>
      <p:regular r:id="rId26"/>
      <p:bold r:id="rId2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81CD0D72-FC31-43B8-8E66-231956F54F28}">
  <a:tblStyle styleId="{81CD0D72-FC31-43B8-8E66-231956F54F28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font" Target="fonts/Oswald-regular.fntdata"/><Relationship Id="rId25" Type="http://schemas.openxmlformats.org/officeDocument/2006/relationships/font" Target="fonts/Average-regular.fntdata"/><Relationship Id="rId27" Type="http://schemas.openxmlformats.org/officeDocument/2006/relationships/font" Target="fonts/Oswald-bold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352f6aca29a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g352f6aca29a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3533c69a068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" name="Google Shape;63;g3533c69a068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3533c69a068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" name="Google Shape;69;g3533c69a068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352f6aca29a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" name="Google Shape;75;g352f6aca29a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352f6aca29a_1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" name="Google Shape;81;g352f6aca29a_1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3533c69a068_0_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3533c69a068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3533c69a068_0_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3533c69a068_0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3533c69a068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3533c69a068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3533c69a068_0_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" name="Google Shape;104;g3533c69a068_0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53cf3c5bcc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" name="Google Shape;112;g353cf3c5bcc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3533c69a068_0_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g3533c69a068_0_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3533c69a068_0_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" name="Google Shape;124;g3533c69a068_0_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353e61f0e10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" name="Google Shape;130;g353e61f0e10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3533c69a068_0_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" name="Google Shape;135;g3533c69a068_0_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3535689d05e_0_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1" name="Google Shape;141;g3535689d05e_0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53e61f0e10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53e61f0e10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3535689d05e_0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3" name="Google Shape;153;g3535689d05e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353e61f0e10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9" name="Google Shape;159;g353e61f0e10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2"/>
          <p:cNvGrpSpPr/>
          <p:nvPr/>
        </p:nvGrpSpPr>
        <p:grpSpPr>
          <a:xfrm>
            <a:off x="4350279" y="2855377"/>
            <a:ext cx="443589" cy="105632"/>
            <a:chOff x="4137525" y="2915950"/>
            <a:chExt cx="869100" cy="207000"/>
          </a:xfrm>
        </p:grpSpPr>
        <p:sp>
          <p:nvSpPr>
            <p:cNvPr id="11" name="Google Shape;11;p2"/>
            <p:cNvSpPr/>
            <p:nvPr/>
          </p:nvSpPr>
          <p:spPr>
            <a:xfrm>
              <a:off x="4468575" y="2915950"/>
              <a:ext cx="207000" cy="20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" name="Google Shape;12;p2"/>
            <p:cNvSpPr/>
            <p:nvPr/>
          </p:nvSpPr>
          <p:spPr>
            <a:xfrm>
              <a:off x="4799625" y="2915950"/>
              <a:ext cx="207000" cy="20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>
              <a:off x="4137525" y="2915950"/>
              <a:ext cx="207000" cy="20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4" name="Google Shape;14;p2"/>
          <p:cNvSpPr txBox="1"/>
          <p:nvPr>
            <p:ph type="ctrTitle"/>
          </p:nvPr>
        </p:nvSpPr>
        <p:spPr>
          <a:xfrm>
            <a:off x="671258" y="990800"/>
            <a:ext cx="7801500" cy="1730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5" name="Google Shape;15;p2"/>
          <p:cNvSpPr txBox="1"/>
          <p:nvPr>
            <p:ph idx="1" type="subTitle"/>
          </p:nvPr>
        </p:nvSpPr>
        <p:spPr>
          <a:xfrm>
            <a:off x="671250" y="3174876"/>
            <a:ext cx="78015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6" name="Google Shape;16;p2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 txBox="1"/>
          <p:nvPr>
            <p:ph type="title"/>
          </p:nvPr>
        </p:nvSpPr>
        <p:spPr>
          <a:xfrm>
            <a:off x="671250" y="2141250"/>
            <a:ext cx="7852200" cy="861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9" name="Google Shape;19;p3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2" name="Google Shape;22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6" name="Google Shape;26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7" name="Google Shape;27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8" name="Google Shape;28;p5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1" name="Google Shape;31;p6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4" name="Google Shape;34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5" name="Google Shape;35;p7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lt2"/>
        </a:solidFill>
      </p:bgPr>
    </p:bg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8"/>
          <p:cNvSpPr txBox="1"/>
          <p:nvPr>
            <p:ph type="title"/>
          </p:nvPr>
        </p:nvSpPr>
        <p:spPr>
          <a:xfrm>
            <a:off x="490250" y="526350"/>
            <a:ext cx="62271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8" name="Google Shape;38;p8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9"/>
          <p:cNvSpPr/>
          <p:nvPr/>
        </p:nvSpPr>
        <p:spPr>
          <a:xfrm>
            <a:off x="4572000" y="0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1" name="Google Shape;41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2" name="Google Shape;42;p9"/>
          <p:cNvSpPr txBox="1"/>
          <p:nvPr>
            <p:ph type="title"/>
          </p:nvPr>
        </p:nvSpPr>
        <p:spPr>
          <a:xfrm>
            <a:off x="265500" y="1081400"/>
            <a:ext cx="4045200" cy="1710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3" name="Google Shape;43;p9"/>
          <p:cNvSpPr txBox="1"/>
          <p:nvPr>
            <p:ph idx="1" type="subTitle"/>
          </p:nvPr>
        </p:nvSpPr>
        <p:spPr>
          <a:xfrm>
            <a:off x="265500" y="2845201"/>
            <a:ext cx="40452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4" name="Google Shape;44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5" name="Google Shape;45;p9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Oswald"/>
              <a:buNone/>
              <a:defRPr sz="21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1pPr>
          </a:lstStyle>
          <a:p/>
        </p:txBody>
      </p:sp>
      <p:sp>
        <p:nvSpPr>
          <p:cNvPr id="48" name="Google Shape;48;p10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1"/>
          <p:cNvSpPr txBox="1"/>
          <p:nvPr>
            <p:ph hasCustomPrompt="1" type="title"/>
          </p:nvPr>
        </p:nvSpPr>
        <p:spPr>
          <a:xfrm>
            <a:off x="311700" y="1255275"/>
            <a:ext cx="8520600" cy="1890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51" name="Google Shape;51;p11"/>
          <p:cNvSpPr txBox="1"/>
          <p:nvPr>
            <p:ph idx="1" type="body"/>
          </p:nvPr>
        </p:nvSpPr>
        <p:spPr>
          <a:xfrm>
            <a:off x="311700" y="32284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2" name="Google Shape;52;p11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2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late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Average"/>
              <a:buChar char="●"/>
              <a:defRPr sz="18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○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■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●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○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■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●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○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■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1pPr>
            <a:lvl2pPr lvl="1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2pPr>
            <a:lvl3pPr lvl="2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3pPr>
            <a:lvl4pPr lvl="3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4pPr>
            <a:lvl5pPr lvl="4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5pPr>
            <a:lvl6pPr lvl="5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6pPr>
            <a:lvl7pPr lvl="6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7pPr>
            <a:lvl8pPr lvl="7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8pPr>
            <a:lvl9pPr lvl="8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8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7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6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4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3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3"/>
          <p:cNvSpPr txBox="1"/>
          <p:nvPr>
            <p:ph type="title"/>
          </p:nvPr>
        </p:nvSpPr>
        <p:spPr>
          <a:xfrm>
            <a:off x="0" y="542225"/>
            <a:ext cx="8952600" cy="10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3990" u="sng"/>
              <a:t>The Effect of Walkability on Rent</a:t>
            </a:r>
            <a:endParaRPr sz="399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sz="2700"/>
          </a:p>
        </p:txBody>
      </p:sp>
      <p:sp>
        <p:nvSpPr>
          <p:cNvPr id="60" name="Google Shape;60;p13"/>
          <p:cNvSpPr txBox="1"/>
          <p:nvPr>
            <p:ph idx="1" type="body"/>
          </p:nvPr>
        </p:nvSpPr>
        <p:spPr>
          <a:xfrm>
            <a:off x="1583250" y="1923000"/>
            <a:ext cx="5977500" cy="1297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77500" lnSpcReduction="2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Austin Coffelt , Tanisha Gauns</a:t>
            </a:r>
            <a:endParaRPr b="1" sz="2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None/>
            </a:pPr>
            <a:r>
              <a:rPr b="1" lang="en" sz="2617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May 6th, 2025 </a:t>
            </a:r>
            <a:endParaRPr b="1" sz="2617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4"/>
          <p:cNvSpPr txBox="1"/>
          <p:nvPr>
            <p:ph type="title"/>
          </p:nvPr>
        </p:nvSpPr>
        <p:spPr>
          <a:xfrm>
            <a:off x="185350" y="139025"/>
            <a:ext cx="8999100" cy="61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Big Picture Of This Project </a:t>
            </a:r>
            <a:endParaRPr/>
          </a:p>
        </p:txBody>
      </p:sp>
      <p:sp>
        <p:nvSpPr>
          <p:cNvPr id="66" name="Google Shape;66;p14"/>
          <p:cNvSpPr txBox="1"/>
          <p:nvPr>
            <p:ph idx="1" type="body"/>
          </p:nvPr>
        </p:nvSpPr>
        <p:spPr>
          <a:xfrm>
            <a:off x="230100" y="800150"/>
            <a:ext cx="8683800" cy="392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770"/>
              <a:buNone/>
            </a:pPr>
            <a:r>
              <a:rPr lang="en" sz="1860" u="sng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Research Question:</a:t>
            </a:r>
            <a:r>
              <a:rPr lang="en" sz="186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" sz="179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What is the effect of neighborhood walkability on the median rent in that neighborhood? And what effect does crime have on that relationship?</a:t>
            </a:r>
            <a:endParaRPr sz="179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SzPts val="770"/>
              <a:buNone/>
            </a:pPr>
            <a:r>
              <a:rPr lang="en" sz="1790" u="sng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Data:</a:t>
            </a:r>
            <a:r>
              <a:rPr lang="en" sz="179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179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265" lvl="0" marL="45720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790"/>
              <a:buFont typeface="Times New Roman"/>
              <a:buChar char="●"/>
            </a:pPr>
            <a:r>
              <a:rPr lang="en" sz="179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2019 EPA National Walkability Index for Block Groups</a:t>
            </a:r>
            <a:endParaRPr sz="179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265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90"/>
              <a:buFont typeface="Times New Roman"/>
              <a:buChar char="●"/>
            </a:pPr>
            <a:r>
              <a:rPr lang="en" sz="179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Median Contract Rent from Census</a:t>
            </a:r>
            <a:endParaRPr sz="179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265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90"/>
              <a:buFont typeface="Times New Roman"/>
              <a:buChar char="●"/>
            </a:pPr>
            <a:r>
              <a:rPr lang="en" sz="179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Controls from EPA as well as Census Data</a:t>
            </a:r>
            <a:endParaRPr sz="179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265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90"/>
              <a:buFont typeface="Times New Roman"/>
              <a:buChar char="●"/>
            </a:pPr>
            <a:r>
              <a:rPr lang="en" sz="179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Crime Statistics from individual cities</a:t>
            </a:r>
            <a:endParaRPr sz="179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SzPts val="770"/>
              <a:buNone/>
            </a:pPr>
            <a:r>
              <a:rPr lang="en" sz="1790" u="sng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Broad Findings and Interpretations:</a:t>
            </a:r>
            <a:endParaRPr sz="1790" u="sng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265" lvl="0" marL="45720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790"/>
              <a:buFont typeface="Times New Roman"/>
              <a:buChar char="●"/>
            </a:pPr>
            <a:r>
              <a:rPr lang="en" sz="179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Causal Method: OLS with controls</a:t>
            </a:r>
            <a:endParaRPr sz="179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265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90"/>
              <a:buFont typeface="Times New Roman"/>
              <a:buChar char="●"/>
            </a:pPr>
            <a:r>
              <a:rPr lang="en" sz="179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 unit increase in standard deviation Walkability causes 1.1% increase in median block group rent, significant at all levels</a:t>
            </a:r>
            <a:endParaRPr sz="179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265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90"/>
              <a:buFont typeface="Times New Roman"/>
              <a:buChar char="●"/>
            </a:pPr>
            <a:r>
              <a:rPr lang="en" sz="179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Possible interesting interaction with crime, limited by our data</a:t>
            </a:r>
            <a:endParaRPr sz="179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SzPts val="770"/>
              <a:buNone/>
            </a:pPr>
            <a:r>
              <a:t/>
            </a:r>
            <a:endParaRPr sz="179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1200"/>
              </a:spcAft>
              <a:buSzPts val="770"/>
              <a:buNone/>
            </a:pPr>
            <a:r>
              <a:t/>
            </a:r>
            <a:endParaRPr sz="186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5"/>
          <p:cNvSpPr txBox="1"/>
          <p:nvPr>
            <p:ph type="title"/>
          </p:nvPr>
        </p:nvSpPr>
        <p:spPr>
          <a:xfrm>
            <a:off x="311700" y="203875"/>
            <a:ext cx="8520600" cy="67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Walkability</a:t>
            </a:r>
            <a:endParaRPr/>
          </a:p>
        </p:txBody>
      </p:sp>
      <p:pic>
        <p:nvPicPr>
          <p:cNvPr id="72" name="Google Shape;72;p15" title="Screenshot 2025-05-01 at 2.03.08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91612" y="878575"/>
            <a:ext cx="7760777" cy="3820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6"/>
          <p:cNvSpPr txBox="1"/>
          <p:nvPr>
            <p:ph type="title"/>
          </p:nvPr>
        </p:nvSpPr>
        <p:spPr>
          <a:xfrm>
            <a:off x="806275" y="139200"/>
            <a:ext cx="7636500" cy="56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3000"/>
              <a:t>                             </a:t>
            </a:r>
            <a:r>
              <a:rPr lang="en" sz="3000">
                <a:latin typeface="Times New Roman"/>
                <a:ea typeface="Times New Roman"/>
                <a:cs typeface="Times New Roman"/>
                <a:sym typeface="Times New Roman"/>
              </a:rPr>
              <a:t>  </a:t>
            </a:r>
            <a:r>
              <a:rPr b="1" lang="en" sz="3000">
                <a:latin typeface="Times New Roman"/>
                <a:ea typeface="Times New Roman"/>
                <a:cs typeface="Times New Roman"/>
                <a:sym typeface="Times New Roman"/>
              </a:rPr>
              <a:t>   </a:t>
            </a:r>
            <a:r>
              <a:rPr b="1" lang="en" sz="3000">
                <a:latin typeface="Times New Roman"/>
                <a:ea typeface="Times New Roman"/>
                <a:cs typeface="Times New Roman"/>
                <a:sym typeface="Times New Roman"/>
              </a:rPr>
              <a:t>Motivation</a:t>
            </a:r>
            <a:endParaRPr b="1" sz="3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sz="2700"/>
          </a:p>
        </p:txBody>
      </p:sp>
      <p:sp>
        <p:nvSpPr>
          <p:cNvPr id="78" name="Google Shape;78;p16"/>
          <p:cNvSpPr txBox="1"/>
          <p:nvPr>
            <p:ph idx="1" type="body"/>
          </p:nvPr>
        </p:nvSpPr>
        <p:spPr>
          <a:xfrm>
            <a:off x="311700" y="908225"/>
            <a:ext cx="8520600" cy="366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Times New Roman"/>
              <a:buChar char="●"/>
            </a:pPr>
            <a:r>
              <a:rPr lang="en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USA very car dependant</a:t>
            </a:r>
            <a:endParaRPr sz="2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○"/>
            </a:pPr>
            <a:r>
              <a:rPr lang="e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Behind many contemporary economies (Paris, Berlin)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Times New Roman"/>
              <a:buChar char="●"/>
            </a:pPr>
            <a:r>
              <a:rPr lang="en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Cars are a large contributor to US emissions</a:t>
            </a:r>
            <a:endParaRPr sz="2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○"/>
            </a:pPr>
            <a:r>
              <a:rPr lang="e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About 25 percent (US EIA, 2023)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○"/>
            </a:pPr>
            <a:r>
              <a:rPr lang="e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Climate change related disasters increasing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Times New Roman"/>
              <a:buChar char="●"/>
            </a:pPr>
            <a:r>
              <a:rPr lang="en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US cities have began to address this issue</a:t>
            </a:r>
            <a:endParaRPr sz="2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○"/>
            </a:pPr>
            <a:r>
              <a:rPr lang="e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Changes towards walkability (Congestion Pricing, Removal of Parking Minimums)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Times New Roman"/>
              <a:buChar char="●"/>
            </a:pPr>
            <a:r>
              <a:rPr lang="en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Is there demand for these changes?</a:t>
            </a:r>
            <a:endParaRPr sz="2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○"/>
            </a:pPr>
            <a:r>
              <a:rPr lang="e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Does the American Public value walkability?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7"/>
          <p:cNvSpPr txBox="1"/>
          <p:nvPr>
            <p:ph type="title"/>
          </p:nvPr>
        </p:nvSpPr>
        <p:spPr>
          <a:xfrm>
            <a:off x="311700" y="1855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Literature  Review :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" name="Google Shape;84;p17"/>
          <p:cNvSpPr txBox="1"/>
          <p:nvPr>
            <p:ph idx="1" type="body"/>
          </p:nvPr>
        </p:nvSpPr>
        <p:spPr>
          <a:xfrm>
            <a:off x="311700" y="11415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53885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73"/>
              <a:buFont typeface="Times New Roman"/>
              <a:buChar char="●"/>
            </a:pPr>
            <a:r>
              <a:rPr i="1" lang="en" sz="1973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Does Walkability Influence Housing Prices?</a:t>
            </a:r>
            <a:r>
              <a:rPr lang="en" sz="1973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(Austin Boyle, Charles Barrilleaux, and Daniel Scheller, September 2014.)</a:t>
            </a:r>
            <a:endParaRPr sz="1973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770"/>
              <a:buNone/>
            </a:pPr>
            <a:r>
              <a:t/>
            </a:r>
            <a:endParaRPr sz="1973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3885" lvl="0" marL="45720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973"/>
              <a:buFont typeface="Times New Roman"/>
              <a:buChar char="●"/>
            </a:pPr>
            <a:r>
              <a:rPr i="1" lang="en" sz="1973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Effect of Walkability on House Prices</a:t>
            </a:r>
            <a:r>
              <a:rPr lang="en" sz="1973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(Ekaterina Chernobai and Zhongming Ma, 18 January 2022.)</a:t>
            </a:r>
            <a:endParaRPr sz="1973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770"/>
              <a:buNone/>
            </a:pPr>
            <a:r>
              <a:t/>
            </a:r>
            <a:endParaRPr sz="1973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3885" lvl="0" marL="45720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973"/>
              <a:buFont typeface="Times New Roman"/>
              <a:buChar char="●"/>
            </a:pPr>
            <a:r>
              <a:rPr i="1" lang="en" sz="1973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Neighborhood Walkability and Crime: Does the Relationship Vary by Crime Type?</a:t>
            </a:r>
            <a:r>
              <a:rPr lang="en" sz="1973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(Narae Lee and Christopher Contreras, </a:t>
            </a:r>
            <a:r>
              <a:rPr i="1" lang="en" sz="1973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Environment and Behavior</a:t>
            </a:r>
            <a:r>
              <a:rPr lang="en" sz="1973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August 2021.)</a:t>
            </a:r>
            <a:endParaRPr sz="1973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770"/>
              <a:buNone/>
            </a:pPr>
            <a:r>
              <a:t/>
            </a:r>
            <a:endParaRPr sz="1560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1200"/>
              </a:spcAft>
              <a:buSzPts val="770"/>
              <a:buNone/>
            </a:pPr>
            <a:r>
              <a:t/>
            </a:r>
            <a:endParaRPr sz="156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9" name="Google Shape;89;p18" title="rent_plot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9750" y="152400"/>
            <a:ext cx="8064500" cy="483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4" name="Google Shape;94;p19" title="log_rent_plot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9750" y="152400"/>
            <a:ext cx="8064500" cy="483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</a:t>
            </a:r>
            <a:endParaRPr/>
          </a:p>
        </p:txBody>
      </p:sp>
      <p:sp>
        <p:nvSpPr>
          <p:cNvPr id="100" name="Google Shape;100;p20"/>
          <p:cNvSpPr txBox="1"/>
          <p:nvPr>
            <p:ph idx="1" type="body"/>
          </p:nvPr>
        </p:nvSpPr>
        <p:spPr>
          <a:xfrm>
            <a:off x="311700" y="1065775"/>
            <a:ext cx="4260300" cy="350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dk1"/>
                </a:solidFill>
              </a:rPr>
              <a:t>Cities/Counties with Crime data:</a:t>
            </a:r>
            <a:endParaRPr u="sng">
              <a:solidFill>
                <a:schemeClr val="dk1"/>
              </a:solidFill>
            </a:endParaRPr>
          </a:p>
          <a:p>
            <a:pPr indent="-333375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50"/>
              <a:buChar char="-"/>
            </a:pPr>
            <a:r>
              <a:rPr lang="en" sz="1650">
                <a:solidFill>
                  <a:schemeClr val="dk1"/>
                </a:solidFill>
              </a:rPr>
              <a:t>Alameda County, CA</a:t>
            </a:r>
            <a:endParaRPr sz="1650">
              <a:solidFill>
                <a:schemeClr val="dk1"/>
              </a:solidFill>
            </a:endParaRPr>
          </a:p>
          <a:p>
            <a:pPr indent="-333375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50"/>
              <a:buChar char="-"/>
            </a:pPr>
            <a:r>
              <a:rPr lang="en" sz="1650">
                <a:solidFill>
                  <a:schemeClr val="dk1"/>
                </a:solidFill>
              </a:rPr>
              <a:t>Austin, TX</a:t>
            </a:r>
            <a:endParaRPr sz="1650">
              <a:solidFill>
                <a:schemeClr val="dk1"/>
              </a:solidFill>
            </a:endParaRPr>
          </a:p>
          <a:p>
            <a:pPr indent="-333375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50"/>
              <a:buChar char="-"/>
            </a:pPr>
            <a:r>
              <a:rPr lang="en" sz="1650">
                <a:solidFill>
                  <a:schemeClr val="dk1"/>
                </a:solidFill>
              </a:rPr>
              <a:t>Boston, MA</a:t>
            </a:r>
            <a:endParaRPr sz="1650">
              <a:solidFill>
                <a:schemeClr val="dk1"/>
              </a:solidFill>
            </a:endParaRPr>
          </a:p>
          <a:p>
            <a:pPr indent="-333375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50"/>
              <a:buChar char="-"/>
            </a:pPr>
            <a:r>
              <a:rPr lang="en" sz="1650">
                <a:solidFill>
                  <a:schemeClr val="dk1"/>
                </a:solidFill>
              </a:rPr>
              <a:t>Buffalo, NY</a:t>
            </a:r>
            <a:endParaRPr sz="1650">
              <a:solidFill>
                <a:schemeClr val="dk1"/>
              </a:solidFill>
            </a:endParaRPr>
          </a:p>
          <a:p>
            <a:pPr indent="-333375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50"/>
              <a:buChar char="-"/>
            </a:pPr>
            <a:r>
              <a:rPr lang="en" sz="1650">
                <a:solidFill>
                  <a:schemeClr val="dk1"/>
                </a:solidFill>
              </a:rPr>
              <a:t>Cambridge, MA (only all crimes)</a:t>
            </a:r>
            <a:endParaRPr sz="1650">
              <a:solidFill>
                <a:schemeClr val="dk1"/>
              </a:solidFill>
            </a:endParaRPr>
          </a:p>
          <a:p>
            <a:pPr indent="-333375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50"/>
              <a:buChar char="-"/>
            </a:pPr>
            <a:r>
              <a:rPr lang="en" sz="1650">
                <a:solidFill>
                  <a:schemeClr val="dk1"/>
                </a:solidFill>
              </a:rPr>
              <a:t>Chattanooga, TN</a:t>
            </a:r>
            <a:endParaRPr sz="1650">
              <a:solidFill>
                <a:schemeClr val="dk1"/>
              </a:solidFill>
            </a:endParaRPr>
          </a:p>
          <a:p>
            <a:pPr indent="-333375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50"/>
              <a:buChar char="-"/>
            </a:pPr>
            <a:r>
              <a:rPr lang="en" sz="1650">
                <a:solidFill>
                  <a:schemeClr val="dk1"/>
                </a:solidFill>
              </a:rPr>
              <a:t>Chicago, IL</a:t>
            </a:r>
            <a:endParaRPr sz="1650">
              <a:solidFill>
                <a:schemeClr val="dk1"/>
              </a:solidFill>
            </a:endParaRPr>
          </a:p>
          <a:p>
            <a:pPr indent="-333375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50"/>
              <a:buChar char="-"/>
            </a:pPr>
            <a:r>
              <a:rPr lang="en" sz="1650">
                <a:solidFill>
                  <a:schemeClr val="dk1"/>
                </a:solidFill>
              </a:rPr>
              <a:t>Cincinnati, OH</a:t>
            </a:r>
            <a:endParaRPr sz="1650">
              <a:solidFill>
                <a:schemeClr val="dk1"/>
              </a:solidFill>
            </a:endParaRPr>
          </a:p>
          <a:p>
            <a:pPr indent="-333375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50"/>
              <a:buChar char="-"/>
            </a:pPr>
            <a:r>
              <a:rPr lang="en" sz="1650">
                <a:solidFill>
                  <a:schemeClr val="dk1"/>
                </a:solidFill>
              </a:rPr>
              <a:t>District of Columbia</a:t>
            </a:r>
            <a:endParaRPr sz="1650">
              <a:solidFill>
                <a:schemeClr val="dk1"/>
              </a:solidFill>
            </a:endParaRPr>
          </a:p>
          <a:p>
            <a:pPr indent="-333375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50"/>
              <a:buChar char="-"/>
            </a:pPr>
            <a:r>
              <a:rPr lang="en" sz="1650">
                <a:solidFill>
                  <a:schemeClr val="dk1"/>
                </a:solidFill>
              </a:rPr>
              <a:t>Detroit, MI</a:t>
            </a:r>
            <a:endParaRPr sz="1650">
              <a:solidFill>
                <a:schemeClr val="dk1"/>
              </a:solidFill>
            </a:endParaRPr>
          </a:p>
          <a:p>
            <a:pPr indent="-333375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50"/>
              <a:buChar char="-"/>
            </a:pPr>
            <a:r>
              <a:rPr lang="en" sz="1650">
                <a:solidFill>
                  <a:schemeClr val="dk1"/>
                </a:solidFill>
              </a:rPr>
              <a:t>Gainesville, FL</a:t>
            </a:r>
            <a:endParaRPr sz="1650">
              <a:solidFill>
                <a:schemeClr val="dk1"/>
              </a:solidFill>
            </a:endParaRPr>
          </a:p>
        </p:txBody>
      </p:sp>
      <p:sp>
        <p:nvSpPr>
          <p:cNvPr id="101" name="Google Shape;101;p20"/>
          <p:cNvSpPr txBox="1"/>
          <p:nvPr/>
        </p:nvSpPr>
        <p:spPr>
          <a:xfrm>
            <a:off x="4133100" y="1445750"/>
            <a:ext cx="4699200" cy="312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3375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50"/>
              <a:buFont typeface="Average"/>
              <a:buChar char="-"/>
            </a:pPr>
            <a:r>
              <a:rPr lang="en" sz="1650">
                <a:solidFill>
                  <a:schemeClr val="dk1"/>
                </a:solidFill>
                <a:latin typeface="Average"/>
                <a:ea typeface="Average"/>
                <a:cs typeface="Average"/>
                <a:sym typeface="Average"/>
              </a:rPr>
              <a:t>Houston, TX</a:t>
            </a:r>
            <a:endParaRPr sz="1650">
              <a:solidFill>
                <a:schemeClr val="dk1"/>
              </a:solidFill>
              <a:latin typeface="Average"/>
              <a:ea typeface="Average"/>
              <a:cs typeface="Average"/>
              <a:sym typeface="Average"/>
            </a:endParaRPr>
          </a:p>
          <a:p>
            <a:pPr indent="-333375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50"/>
              <a:buFont typeface="Average"/>
              <a:buChar char="-"/>
            </a:pPr>
            <a:r>
              <a:rPr lang="en" sz="1650">
                <a:solidFill>
                  <a:schemeClr val="dk1"/>
                </a:solidFill>
                <a:latin typeface="Average"/>
                <a:ea typeface="Average"/>
                <a:cs typeface="Average"/>
                <a:sym typeface="Average"/>
              </a:rPr>
              <a:t>Johns Creek, GA</a:t>
            </a:r>
            <a:endParaRPr sz="1650">
              <a:solidFill>
                <a:schemeClr val="dk1"/>
              </a:solidFill>
              <a:latin typeface="Average"/>
              <a:ea typeface="Average"/>
              <a:cs typeface="Average"/>
              <a:sym typeface="Average"/>
            </a:endParaRPr>
          </a:p>
          <a:p>
            <a:pPr indent="-333375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50"/>
              <a:buFont typeface="Average"/>
              <a:buChar char="-"/>
            </a:pPr>
            <a:r>
              <a:rPr lang="en" sz="1650">
                <a:solidFill>
                  <a:schemeClr val="dk1"/>
                </a:solidFill>
                <a:latin typeface="Average"/>
                <a:ea typeface="Average"/>
                <a:cs typeface="Average"/>
                <a:sym typeface="Average"/>
              </a:rPr>
              <a:t>Los Angeles, CA</a:t>
            </a:r>
            <a:endParaRPr sz="1650">
              <a:solidFill>
                <a:schemeClr val="dk1"/>
              </a:solidFill>
              <a:latin typeface="Average"/>
              <a:ea typeface="Average"/>
              <a:cs typeface="Average"/>
              <a:sym typeface="Average"/>
            </a:endParaRPr>
          </a:p>
          <a:p>
            <a:pPr indent="-333375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50"/>
              <a:buFont typeface="Average"/>
              <a:buChar char="-"/>
            </a:pPr>
            <a:r>
              <a:rPr lang="en" sz="1650">
                <a:solidFill>
                  <a:schemeClr val="dk1"/>
                </a:solidFill>
                <a:latin typeface="Average"/>
                <a:ea typeface="Average"/>
                <a:cs typeface="Average"/>
                <a:sym typeface="Average"/>
              </a:rPr>
              <a:t>Montgomery County, MD</a:t>
            </a:r>
            <a:endParaRPr sz="1650">
              <a:solidFill>
                <a:schemeClr val="dk1"/>
              </a:solidFill>
              <a:latin typeface="Average"/>
              <a:ea typeface="Average"/>
              <a:cs typeface="Average"/>
              <a:sym typeface="Average"/>
            </a:endParaRPr>
          </a:p>
          <a:p>
            <a:pPr indent="-333375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50"/>
              <a:buFont typeface="Average"/>
              <a:buChar char="-"/>
            </a:pPr>
            <a:r>
              <a:rPr lang="en" sz="1650">
                <a:solidFill>
                  <a:schemeClr val="dk1"/>
                </a:solidFill>
                <a:latin typeface="Average"/>
                <a:ea typeface="Average"/>
                <a:cs typeface="Average"/>
                <a:sym typeface="Average"/>
              </a:rPr>
              <a:t>New Orleans, LA</a:t>
            </a:r>
            <a:endParaRPr sz="1650">
              <a:solidFill>
                <a:schemeClr val="dk1"/>
              </a:solidFill>
              <a:latin typeface="Average"/>
              <a:ea typeface="Average"/>
              <a:cs typeface="Average"/>
              <a:sym typeface="Average"/>
            </a:endParaRPr>
          </a:p>
          <a:p>
            <a:pPr indent="-333375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50"/>
              <a:buFont typeface="Average"/>
              <a:buChar char="-"/>
            </a:pPr>
            <a:r>
              <a:rPr lang="en" sz="1650">
                <a:solidFill>
                  <a:schemeClr val="dk1"/>
                </a:solidFill>
                <a:latin typeface="Average"/>
                <a:ea typeface="Average"/>
                <a:cs typeface="Average"/>
                <a:sym typeface="Average"/>
              </a:rPr>
              <a:t>New York City, NY</a:t>
            </a:r>
            <a:endParaRPr sz="1650">
              <a:solidFill>
                <a:schemeClr val="dk1"/>
              </a:solidFill>
              <a:latin typeface="Average"/>
              <a:ea typeface="Average"/>
              <a:cs typeface="Average"/>
              <a:sym typeface="Average"/>
            </a:endParaRPr>
          </a:p>
          <a:p>
            <a:pPr indent="-333375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50"/>
              <a:buFont typeface="Average"/>
              <a:buChar char="-"/>
            </a:pPr>
            <a:r>
              <a:rPr lang="en" sz="1650">
                <a:solidFill>
                  <a:schemeClr val="dk1"/>
                </a:solidFill>
                <a:latin typeface="Average"/>
                <a:ea typeface="Average"/>
                <a:cs typeface="Average"/>
                <a:sym typeface="Average"/>
              </a:rPr>
              <a:t>Oakland, CA</a:t>
            </a:r>
            <a:endParaRPr sz="1650">
              <a:solidFill>
                <a:schemeClr val="dk1"/>
              </a:solidFill>
              <a:latin typeface="Average"/>
              <a:ea typeface="Average"/>
              <a:cs typeface="Average"/>
              <a:sym typeface="Average"/>
            </a:endParaRPr>
          </a:p>
          <a:p>
            <a:pPr indent="-333375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50"/>
              <a:buFont typeface="Average"/>
              <a:buChar char="-"/>
            </a:pPr>
            <a:r>
              <a:rPr lang="en" sz="1650">
                <a:solidFill>
                  <a:schemeClr val="dk1"/>
                </a:solidFill>
                <a:latin typeface="Average"/>
                <a:ea typeface="Average"/>
                <a:cs typeface="Average"/>
                <a:sym typeface="Average"/>
              </a:rPr>
              <a:t>Omaha, NE</a:t>
            </a:r>
            <a:endParaRPr sz="1650">
              <a:solidFill>
                <a:schemeClr val="dk1"/>
              </a:solidFill>
              <a:latin typeface="Average"/>
              <a:ea typeface="Average"/>
              <a:cs typeface="Average"/>
              <a:sym typeface="Average"/>
            </a:endParaRPr>
          </a:p>
          <a:p>
            <a:pPr indent="-333375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50"/>
              <a:buFont typeface="Average"/>
              <a:buChar char="-"/>
            </a:pPr>
            <a:r>
              <a:rPr lang="en" sz="1650">
                <a:solidFill>
                  <a:schemeClr val="dk1"/>
                </a:solidFill>
                <a:latin typeface="Average"/>
                <a:ea typeface="Average"/>
                <a:cs typeface="Average"/>
                <a:sym typeface="Average"/>
              </a:rPr>
              <a:t>Philadelphia, PA</a:t>
            </a:r>
            <a:endParaRPr sz="1650">
              <a:solidFill>
                <a:schemeClr val="dk1"/>
              </a:solidFill>
              <a:latin typeface="Average"/>
              <a:ea typeface="Average"/>
              <a:cs typeface="Average"/>
              <a:sym typeface="Average"/>
            </a:endParaRPr>
          </a:p>
          <a:p>
            <a:pPr indent="-333375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50"/>
              <a:buFont typeface="Average"/>
              <a:buChar char="-"/>
            </a:pPr>
            <a:r>
              <a:rPr lang="en" sz="1650">
                <a:solidFill>
                  <a:schemeClr val="dk1"/>
                </a:solidFill>
                <a:latin typeface="Average"/>
                <a:ea typeface="Average"/>
                <a:cs typeface="Average"/>
                <a:sym typeface="Average"/>
              </a:rPr>
              <a:t>Raleigh, NC</a:t>
            </a:r>
            <a:endParaRPr sz="1650">
              <a:solidFill>
                <a:schemeClr val="dk1"/>
              </a:solidFill>
              <a:latin typeface="Average"/>
              <a:ea typeface="Average"/>
              <a:cs typeface="Average"/>
              <a:sym typeface="Average"/>
            </a:endParaRPr>
          </a:p>
          <a:p>
            <a:pPr indent="-333375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50"/>
              <a:buFont typeface="Average"/>
              <a:buChar char="-"/>
            </a:pPr>
            <a:r>
              <a:rPr lang="en" sz="1650">
                <a:solidFill>
                  <a:schemeClr val="dk1"/>
                </a:solidFill>
                <a:latin typeface="Average"/>
                <a:ea typeface="Average"/>
                <a:cs typeface="Average"/>
                <a:sym typeface="Average"/>
              </a:rPr>
              <a:t>San Francisco, CA</a:t>
            </a:r>
            <a:endParaRPr sz="1650">
              <a:solidFill>
                <a:schemeClr val="dk1"/>
              </a:solidFill>
              <a:latin typeface="Average"/>
              <a:ea typeface="Average"/>
              <a:cs typeface="Average"/>
              <a:sym typeface="Average"/>
            </a:endParaRPr>
          </a:p>
          <a:p>
            <a:pPr indent="-333375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50"/>
              <a:buFont typeface="Average"/>
              <a:buChar char="-"/>
            </a:pPr>
            <a:r>
              <a:rPr lang="en" sz="1650">
                <a:solidFill>
                  <a:schemeClr val="dk1"/>
                </a:solidFill>
                <a:latin typeface="Average"/>
                <a:ea typeface="Average"/>
                <a:cs typeface="Average"/>
                <a:sym typeface="Average"/>
              </a:rPr>
              <a:t>Tempe, AZ</a:t>
            </a:r>
            <a:endParaRPr sz="1650">
              <a:solidFill>
                <a:schemeClr val="dk1"/>
              </a:solidFill>
              <a:latin typeface="Average"/>
              <a:ea typeface="Average"/>
              <a:cs typeface="Average"/>
              <a:sym typeface="Average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1"/>
          <p:cNvSpPr txBox="1"/>
          <p:nvPr>
            <p:ph type="title"/>
          </p:nvPr>
        </p:nvSpPr>
        <p:spPr>
          <a:xfrm>
            <a:off x="5607300" y="0"/>
            <a:ext cx="35367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Causal Identification Method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21"/>
          <p:cNvSpPr txBox="1"/>
          <p:nvPr>
            <p:ph idx="1" type="body"/>
          </p:nvPr>
        </p:nvSpPr>
        <p:spPr>
          <a:xfrm>
            <a:off x="0" y="576300"/>
            <a:ext cx="4982400" cy="456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Rent  = β</a:t>
            </a:r>
            <a:r>
              <a:rPr baseline="-25000"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</a:t>
            </a: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+ β</a:t>
            </a:r>
            <a:r>
              <a:rPr baseline="-25000"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SD(Walkability) + X 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Π</a:t>
            </a: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+ Ɣ</a:t>
            </a:r>
            <a:r>
              <a:rPr baseline="-25000"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county</a:t>
            </a: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+ u</a:t>
            </a:r>
            <a:endParaRPr i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Rent  = β</a:t>
            </a:r>
            <a:r>
              <a:rPr baseline="-25000"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</a:t>
            </a: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+ β</a:t>
            </a:r>
            <a:r>
              <a:rPr baseline="-25000"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SD(Walkability) + δ</a:t>
            </a:r>
            <a:r>
              <a:rPr baseline="-25000"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 </a:t>
            </a: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High Crime + δ</a:t>
            </a:r>
            <a:r>
              <a:rPr baseline="-25000"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(SD(Walkability) * High Crime) +  X 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Π</a:t>
            </a: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+ Ɣ</a:t>
            </a:r>
            <a:r>
              <a:rPr baseline="-25000"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county</a:t>
            </a: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+ u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●"/>
            </a:pP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%ΔRent = 100β</a:t>
            </a:r>
            <a:r>
              <a:rPr baseline="-25000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 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Δ SD(Walkability)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●"/>
            </a:pP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Investigating Total Crime, Violent Crime, Property Crime, and Motor Vehicle Thefts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●"/>
            </a:pP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Above 75th percentile (2019 rates) =&gt; High Crime = 1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●"/>
            </a:pP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Heteroskedasticity Robust Errors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8" name="Google Shape;108;p21"/>
          <p:cNvSpPr txBox="1"/>
          <p:nvPr>
            <p:ph type="title"/>
          </p:nvPr>
        </p:nvSpPr>
        <p:spPr>
          <a:xfrm>
            <a:off x="0" y="0"/>
            <a:ext cx="35367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/>
              <a:t>Estimating</a:t>
            </a:r>
            <a:r>
              <a:rPr lang="en" u="sng"/>
              <a:t> Equations:</a:t>
            </a:r>
            <a:endParaRPr u="sng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09" name="Google Shape;109;p21" title="Screenshot 2025-05-02 at 6.21.18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82400" y="1248817"/>
            <a:ext cx="4161600" cy="322217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2"/>
          <p:cNvSpPr txBox="1"/>
          <p:nvPr>
            <p:ph type="title"/>
          </p:nvPr>
        </p:nvSpPr>
        <p:spPr>
          <a:xfrm>
            <a:off x="2001238" y="0"/>
            <a:ext cx="5079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Causal Identification Method (Controls)</a:t>
            </a:r>
            <a:endParaRPr/>
          </a:p>
        </p:txBody>
      </p:sp>
      <p:graphicFrame>
        <p:nvGraphicFramePr>
          <p:cNvPr id="115" name="Google Shape;115;p22"/>
          <p:cNvGraphicFramePr/>
          <p:nvPr/>
        </p:nvGraphicFramePr>
        <p:xfrm>
          <a:off x="99175" y="6291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{81CD0D72-FC31-43B8-8E66-231956F54F28}</a:tableStyleId>
              </a:tblPr>
              <a:tblGrid>
                <a:gridCol w="2718850"/>
                <a:gridCol w="3092300"/>
                <a:gridCol w="3072575"/>
              </a:tblGrid>
              <a:tr h="734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" sz="1800" u="sng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Neighborhood Characteristics: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 u="sng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Characteristics of the Commute: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 u="sng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Characteristics of the rental properties/people in it:</a:t>
                      </a:r>
                      <a:endParaRPr sz="1800" u="sng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- Race</a:t>
                      </a:r>
                      <a:endParaRPr sz="15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- Income (log scale)</a:t>
                      </a:r>
                      <a:endParaRPr sz="15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- Population Density</a:t>
                      </a:r>
                      <a:endParaRPr sz="15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- Housing Density</a:t>
                      </a:r>
                      <a:endParaRPr sz="15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- Percentage of households that own no cars</a:t>
                      </a:r>
                      <a:endParaRPr sz="15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- Percentage of households that own two cars</a:t>
                      </a:r>
                      <a:endParaRPr sz="15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- Amount and Percentage of people who work for low/high wages</a:t>
                      </a:r>
                      <a:endParaRPr sz="18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- Jobs within 45 minute drive</a:t>
                      </a:r>
                      <a:endParaRPr sz="15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- Regional Centrality</a:t>
                      </a:r>
                      <a:endParaRPr sz="15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- Percentage of people that drive to work</a:t>
                      </a:r>
                      <a:endParaRPr sz="15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- Percentage of people that take public transportation to work</a:t>
                      </a:r>
                      <a:endParaRPr sz="15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- Percentage of people that walk to work</a:t>
                      </a:r>
                      <a:endParaRPr sz="15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- Percentage of people that start their commute before 6AM</a:t>
                      </a:r>
                      <a:endParaRPr sz="15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- Percentage of people that have less than a 15 minute commute</a:t>
                      </a:r>
                      <a:endParaRPr sz="15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- Percentage of people with longer than a hour commute</a:t>
                      </a:r>
                      <a:endParaRPr sz="15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- Average household size</a:t>
                      </a:r>
                      <a:endParaRPr sz="15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- Percentage of households with gas/electric/no heating</a:t>
                      </a:r>
                      <a:endParaRPr sz="15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- Percentage of households without Internet</a:t>
                      </a:r>
                      <a:endParaRPr sz="15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- Percentage of people living alone</a:t>
                      </a:r>
                      <a:endParaRPr sz="15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- Median number of rooms</a:t>
                      </a:r>
                      <a:endParaRPr sz="15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- Median year the properties were built</a:t>
                      </a:r>
                      <a:endParaRPr sz="15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- Percentage of people that pay extra for utilities</a:t>
                      </a:r>
                      <a:endParaRPr sz="15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- Median year the tenants moved in</a:t>
                      </a:r>
                      <a:endParaRPr sz="1500"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3"/>
          <p:cNvSpPr txBox="1"/>
          <p:nvPr>
            <p:ph type="title"/>
          </p:nvPr>
        </p:nvSpPr>
        <p:spPr>
          <a:xfrm>
            <a:off x="1517700" y="81925"/>
            <a:ext cx="6108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Limitations</a:t>
            </a:r>
            <a:endParaRPr/>
          </a:p>
        </p:txBody>
      </p:sp>
      <p:sp>
        <p:nvSpPr>
          <p:cNvPr id="121" name="Google Shape;121;p23"/>
          <p:cNvSpPr txBox="1"/>
          <p:nvPr>
            <p:ph idx="1" type="body"/>
          </p:nvPr>
        </p:nvSpPr>
        <p:spPr>
          <a:xfrm>
            <a:off x="226050" y="654625"/>
            <a:ext cx="8691900" cy="448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25000" lnSpcReduction="20000"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7567" u="sng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Omitted Variables</a:t>
            </a:r>
            <a:endParaRPr sz="7567" u="sng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8732" lvl="1" marL="9144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Times New Roman"/>
              <a:buChar char="○"/>
            </a:pPr>
            <a:r>
              <a:rPr lang="en" sz="7567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Measurement for Terrain (Hilliness): Likely Bias Upward</a:t>
            </a:r>
            <a:endParaRPr sz="7567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8732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Times New Roman"/>
              <a:buChar char="○"/>
            </a:pPr>
            <a:r>
              <a:rPr lang="en" sz="7567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Frequency of Transit: Likely Bias Upward</a:t>
            </a:r>
            <a:endParaRPr sz="7567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8732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Times New Roman"/>
              <a:buChar char="○"/>
            </a:pPr>
            <a:r>
              <a:rPr lang="en" sz="7567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Average Temperature: Likely Bias Upward</a:t>
            </a:r>
            <a:endParaRPr sz="7567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8732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Times New Roman"/>
              <a:buChar char="○"/>
            </a:pPr>
            <a:r>
              <a:rPr lang="en" sz="7567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Square Footage: Likely Bias Upward</a:t>
            </a:r>
            <a:endParaRPr sz="7567" u="sng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7567" u="sng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Selection</a:t>
            </a:r>
            <a:endParaRPr sz="7567" u="sng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8732" lvl="1" marL="9144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Times New Roman"/>
              <a:buChar char="○"/>
            </a:pPr>
            <a:r>
              <a:rPr lang="en" sz="7567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Census data has artificial cutoffs</a:t>
            </a:r>
            <a:endParaRPr sz="7567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8732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Times New Roman"/>
              <a:buChar char="○"/>
            </a:pPr>
            <a:r>
              <a:rPr lang="en" sz="7567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Only have crime data for cities that publish (Increasing SE)</a:t>
            </a:r>
            <a:endParaRPr sz="7567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8732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Times New Roman"/>
              <a:buChar char="○"/>
            </a:pPr>
            <a:r>
              <a:rPr lang="en" sz="7567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Must have a crime committed in the block group to be included</a:t>
            </a:r>
            <a:endParaRPr sz="7567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7567" u="sng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Measurement Error</a:t>
            </a:r>
            <a:endParaRPr sz="7567" u="sng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8732" lvl="1" marL="9144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Times New Roman"/>
              <a:buChar char="○"/>
            </a:pPr>
            <a:r>
              <a:rPr lang="en" sz="7567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Census data comes with margin of error</a:t>
            </a:r>
            <a:endParaRPr sz="7567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8732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Times New Roman"/>
              <a:buChar char="○"/>
            </a:pPr>
            <a:r>
              <a:rPr lang="en" sz="7567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Crime Geolocating has gotten better with time</a:t>
            </a:r>
            <a:endParaRPr sz="7567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u="sng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u="sng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24"/>
          <p:cNvSpPr txBox="1"/>
          <p:nvPr>
            <p:ph type="title"/>
          </p:nvPr>
        </p:nvSpPr>
        <p:spPr>
          <a:xfrm>
            <a:off x="311700" y="-747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Summary Statistics (Walkability and Rent)</a:t>
            </a:r>
            <a:endParaRPr/>
          </a:p>
        </p:txBody>
      </p:sp>
      <p:graphicFrame>
        <p:nvGraphicFramePr>
          <p:cNvPr id="127" name="Google Shape;127;p24"/>
          <p:cNvGraphicFramePr/>
          <p:nvPr/>
        </p:nvGraphicFramePr>
        <p:xfrm>
          <a:off x="632125" y="4979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{81CD0D72-FC31-43B8-8E66-231956F54F28}</a:tableStyleId>
              </a:tblPr>
              <a:tblGrid>
                <a:gridCol w="1103875"/>
                <a:gridCol w="1103875"/>
                <a:gridCol w="1606475"/>
                <a:gridCol w="1355175"/>
                <a:gridCol w="1355175"/>
                <a:gridCol w="1355175"/>
              </a:tblGrid>
              <a:tr h="5164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Walkability (Full Data)</a:t>
                      </a:r>
                      <a:endParaRPr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Walkability (With Controls)</a:t>
                      </a:r>
                      <a:endParaRPr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Median Rent </a:t>
                      </a:r>
                      <a:r>
                        <a:rPr lang="en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(With Controls)</a:t>
                      </a:r>
                      <a:endParaRPr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Walkability (Crime Data)</a:t>
                      </a:r>
                      <a:endParaRPr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Median Rent </a:t>
                      </a:r>
                      <a:r>
                        <a:rPr lang="en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(Crime Data)</a:t>
                      </a:r>
                      <a:endParaRPr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 anchor="ctr"/>
                </a:tc>
              </a:tr>
              <a:tr h="5164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Count</a:t>
                      </a:r>
                      <a:endParaRPr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220472</a:t>
                      </a:r>
                      <a:endParaRPr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146247</a:t>
                      </a:r>
                      <a:endParaRPr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146247</a:t>
                      </a:r>
                      <a:endParaRPr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11573</a:t>
                      </a:r>
                      <a:endParaRPr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11573</a:t>
                      </a:r>
                      <a:endParaRPr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 anchor="ctr"/>
                </a:tc>
              </a:tr>
              <a:tr h="5164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Standard Deviation</a:t>
                      </a:r>
                      <a:endParaRPr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4.37</a:t>
                      </a:r>
                      <a:endParaRPr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4.26</a:t>
                      </a:r>
                      <a:endParaRPr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500.18</a:t>
                      </a:r>
                      <a:endParaRPr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2.82</a:t>
                      </a:r>
                      <a:endParaRPr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561.03</a:t>
                      </a:r>
                      <a:endParaRPr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 anchor="ctr"/>
                </a:tc>
              </a:tr>
              <a:tr h="5164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Minimum</a:t>
                      </a:r>
                      <a:endParaRPr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1.00</a:t>
                      </a:r>
                      <a:endParaRPr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1.00</a:t>
                      </a:r>
                      <a:endParaRPr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101</a:t>
                      </a:r>
                      <a:endParaRPr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1.83</a:t>
                      </a:r>
                      <a:endParaRPr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172</a:t>
                      </a:r>
                      <a:endParaRPr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 anchor="ctr"/>
                </a:tc>
              </a:tr>
              <a:tr h="5164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25th Percentile</a:t>
                      </a:r>
                      <a:endParaRPr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5.83</a:t>
                      </a:r>
                      <a:endParaRPr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6.17</a:t>
                      </a:r>
                      <a:endParaRPr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587</a:t>
                      </a:r>
                      <a:endParaRPr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12.17</a:t>
                      </a:r>
                      <a:endParaRPr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816</a:t>
                      </a:r>
                      <a:endParaRPr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 anchor="ctr"/>
                </a:tc>
              </a:tr>
              <a:tr h="5164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Median</a:t>
                      </a:r>
                      <a:endParaRPr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9.17</a:t>
                      </a:r>
                      <a:endParaRPr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9.50</a:t>
                      </a:r>
                      <a:endParaRPr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822</a:t>
                      </a:r>
                      <a:endParaRPr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14.17</a:t>
                      </a:r>
                      <a:endParaRPr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1151</a:t>
                      </a:r>
                      <a:endParaRPr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 anchor="ctr"/>
                </a:tc>
              </a:tr>
              <a:tr h="5164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75th Percentile</a:t>
                      </a:r>
                      <a:endParaRPr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13.17</a:t>
                      </a:r>
                      <a:endParaRPr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13.33</a:t>
                      </a:r>
                      <a:endParaRPr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1188</a:t>
                      </a:r>
                      <a:endParaRPr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15.83</a:t>
                      </a:r>
                      <a:endParaRPr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1546</a:t>
                      </a:r>
                      <a:endParaRPr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 anchor="ctr"/>
                </a:tc>
              </a:tr>
              <a:tr h="5164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Maximum</a:t>
                      </a:r>
                      <a:endParaRPr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20.00</a:t>
                      </a:r>
                      <a:endParaRPr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20.00</a:t>
                      </a:r>
                      <a:endParaRPr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3500</a:t>
                      </a:r>
                      <a:endParaRPr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20.00</a:t>
                      </a:r>
                      <a:endParaRPr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3500</a:t>
                      </a:r>
                      <a:endParaRPr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2" name="Google Shape;132;p25" title="crime_rent_plot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9750" y="152400"/>
            <a:ext cx="8064500" cy="483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26"/>
          <p:cNvSpPr txBox="1"/>
          <p:nvPr>
            <p:ph type="title"/>
          </p:nvPr>
        </p:nvSpPr>
        <p:spPr>
          <a:xfrm>
            <a:off x="2441850" y="145800"/>
            <a:ext cx="42603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Results</a:t>
            </a:r>
            <a:endParaRPr/>
          </a:p>
        </p:txBody>
      </p:sp>
      <p:pic>
        <p:nvPicPr>
          <p:cNvPr id="138" name="Google Shape;138;p26" title="Screenshot 2025-05-02 at 6.24.07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95675" y="718500"/>
            <a:ext cx="5152645" cy="4189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27"/>
          <p:cNvSpPr txBox="1"/>
          <p:nvPr>
            <p:ph type="title"/>
          </p:nvPr>
        </p:nvSpPr>
        <p:spPr>
          <a:xfrm>
            <a:off x="311700" y="7320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Results</a:t>
            </a:r>
            <a:endParaRPr/>
          </a:p>
        </p:txBody>
      </p:sp>
      <p:pic>
        <p:nvPicPr>
          <p:cNvPr id="144" name="Google Shape;144;p27" title="Screenshot 2025-05-02 at 6.25.40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28088" y="645900"/>
            <a:ext cx="7087822" cy="4277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28"/>
          <p:cNvSpPr txBox="1"/>
          <p:nvPr>
            <p:ph type="title"/>
          </p:nvPr>
        </p:nvSpPr>
        <p:spPr>
          <a:xfrm>
            <a:off x="311700" y="1527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Summary Statistics (Crime)</a:t>
            </a:r>
            <a:endParaRPr/>
          </a:p>
        </p:txBody>
      </p:sp>
      <p:graphicFrame>
        <p:nvGraphicFramePr>
          <p:cNvPr id="150" name="Google Shape;150;p28"/>
          <p:cNvGraphicFramePr/>
          <p:nvPr/>
        </p:nvGraphicFramePr>
        <p:xfrm>
          <a:off x="311750" y="8711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{81CD0D72-FC31-43B8-8E66-231956F54F28}</a:tableStyleId>
              </a:tblPr>
              <a:tblGrid>
                <a:gridCol w="1704125"/>
                <a:gridCol w="1704125"/>
                <a:gridCol w="1704125"/>
                <a:gridCol w="1704125"/>
                <a:gridCol w="1704125"/>
              </a:tblGrid>
              <a:tr h="7784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7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7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25th Percentile Rate</a:t>
                      </a:r>
                      <a:endParaRPr sz="17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7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Median Rate</a:t>
                      </a:r>
                      <a:endParaRPr sz="17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7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75th Percentile Rate</a:t>
                      </a:r>
                      <a:endParaRPr sz="17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7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Percentage of o</a:t>
                      </a:r>
                      <a:r>
                        <a:rPr lang="en" sz="17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bservations</a:t>
                      </a:r>
                      <a:r>
                        <a:rPr lang="en" sz="17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above the 75%</a:t>
                      </a:r>
                      <a:endParaRPr sz="17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 anchor="ctr"/>
                </a:tc>
              </a:tr>
              <a:tr h="7784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7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All Crime</a:t>
                      </a:r>
                      <a:endParaRPr sz="17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7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1818.85</a:t>
                      </a:r>
                      <a:endParaRPr sz="17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7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2437.5</a:t>
                      </a:r>
                      <a:endParaRPr sz="17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7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3020.4</a:t>
                      </a:r>
                      <a:endParaRPr sz="17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7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30.99%</a:t>
                      </a:r>
                      <a:endParaRPr sz="17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 anchor="ctr"/>
                </a:tc>
              </a:tr>
              <a:tr h="7784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7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Violent Crime</a:t>
                      </a:r>
                      <a:endParaRPr sz="17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7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222.3</a:t>
                      </a:r>
                      <a:endParaRPr sz="17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7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326.8</a:t>
                      </a:r>
                      <a:endParaRPr sz="17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7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453.4</a:t>
                      </a:r>
                      <a:endParaRPr sz="17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7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38.88%</a:t>
                      </a:r>
                      <a:endParaRPr sz="17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 anchor="ctr"/>
                </a:tc>
              </a:tr>
              <a:tr h="7784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7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Property Crime</a:t>
                      </a:r>
                      <a:endParaRPr sz="17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7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1560.2</a:t>
                      </a:r>
                      <a:endParaRPr sz="17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7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2124.2</a:t>
                      </a:r>
                      <a:endParaRPr sz="17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7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2639.7</a:t>
                      </a:r>
                      <a:endParaRPr sz="17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7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29.47%</a:t>
                      </a:r>
                      <a:endParaRPr sz="17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 anchor="ctr"/>
                </a:tc>
              </a:tr>
              <a:tr h="7784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7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Motor Vehicle Theft</a:t>
                      </a:r>
                      <a:endParaRPr sz="17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7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94.3</a:t>
                      </a:r>
                      <a:endParaRPr sz="17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7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162.75</a:t>
                      </a:r>
                      <a:endParaRPr sz="17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7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254.55</a:t>
                      </a:r>
                      <a:endParaRPr sz="17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7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45.23%</a:t>
                      </a:r>
                      <a:endParaRPr sz="17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29"/>
          <p:cNvSpPr txBox="1"/>
          <p:nvPr>
            <p:ph type="title"/>
          </p:nvPr>
        </p:nvSpPr>
        <p:spPr>
          <a:xfrm>
            <a:off x="311700" y="1227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Results</a:t>
            </a:r>
            <a:endParaRPr/>
          </a:p>
        </p:txBody>
      </p:sp>
      <p:pic>
        <p:nvPicPr>
          <p:cNvPr id="156" name="Google Shape;156;p29" title="Screenshot 2025-05-02 at 6.27.25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50375" y="695475"/>
            <a:ext cx="5443250" cy="4294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3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Conclusion</a:t>
            </a:r>
            <a:endParaRPr/>
          </a:p>
        </p:txBody>
      </p:sp>
      <p:sp>
        <p:nvSpPr>
          <p:cNvPr id="162" name="Google Shape;162;p30"/>
          <p:cNvSpPr txBox="1"/>
          <p:nvPr>
            <p:ph idx="1" type="body"/>
          </p:nvPr>
        </p:nvSpPr>
        <p:spPr>
          <a:xfrm>
            <a:off x="311700" y="1152475"/>
            <a:ext cx="8520600" cy="392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Outcomes:</a:t>
            </a:r>
            <a:endParaRPr u="sng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●"/>
            </a:pP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EPA, Census, and City level data for estimating walkability impact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●"/>
            </a:pP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Causal Identification: OLS with controls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●"/>
            </a:pP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Major selection bias in crime sample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●"/>
            </a:pP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1.1% increase in Rent from 1 SD increase in Walkability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●"/>
            </a:pP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 significant effects from crime, Motor Vehicle the closest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Further Research: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●"/>
            </a:pP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Address Level (Walk Score)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●"/>
            </a:pP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Radius around address for crime results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●"/>
            </a:pP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Find crime sample more representative of general population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late">
  <a:themeElements>
    <a:clrScheme name="Slate">
      <a:dk1>
        <a:srgbClr val="FFFFFF"/>
      </a:dk1>
      <a:lt1>
        <a:srgbClr val="37474F"/>
      </a:lt1>
      <a:dk2>
        <a:srgbClr val="9E9E9E"/>
      </a:dk2>
      <a:lt2>
        <a:srgbClr val="E0E0E0"/>
      </a:lt2>
      <a:accent1>
        <a:srgbClr val="616161"/>
      </a:accent1>
      <a:accent2>
        <a:srgbClr val="78909C"/>
      </a:accent2>
      <a:accent3>
        <a:srgbClr val="CACACA"/>
      </a:accent3>
      <a:accent4>
        <a:srgbClr val="64FFDA"/>
      </a:accent4>
      <a:accent5>
        <a:srgbClr val="FFD966"/>
      </a:accent5>
      <a:accent6>
        <a:srgbClr val="F5F5F5"/>
      </a:accent6>
      <a:hlink>
        <a:srgbClr val="FFD966"/>
      </a:hlink>
      <a:folHlink>
        <a:srgbClr val="FFD966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